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</p:sldMasterIdLst>
  <p:sldIdLst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013EFB8-588E-41E2-BC29-4EBA3C82194B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82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BC9DF-7DC6-4135-95FB-E4EE766DCF25}" v="7" dt="2022-07-13T22:55:04.3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Caicedo" userId="fd631119-d684-4e29-8ed3-9ba46e687fed" providerId="ADAL" clId="{72DBC9DF-7DC6-4135-95FB-E4EE766DCF25}"/>
    <pc:docChg chg="undo redo custSel modSld">
      <pc:chgData name="Mario Caicedo" userId="fd631119-d684-4e29-8ed3-9ba46e687fed" providerId="ADAL" clId="{72DBC9DF-7DC6-4135-95FB-E4EE766DCF25}" dt="2022-07-14T00:10:32.731" v="245" actId="20577"/>
      <pc:docMkLst>
        <pc:docMk/>
      </pc:docMkLst>
      <pc:sldChg chg="modSp mod">
        <pc:chgData name="Mario Caicedo" userId="fd631119-d684-4e29-8ed3-9ba46e687fed" providerId="ADAL" clId="{72DBC9DF-7DC6-4135-95FB-E4EE766DCF25}" dt="2022-07-13T21:48:42.143" v="3" actId="20577"/>
        <pc:sldMkLst>
          <pc:docMk/>
          <pc:sldMk cId="2490725940" sldId="260"/>
        </pc:sldMkLst>
        <pc:spChg chg="mod">
          <ac:chgData name="Mario Caicedo" userId="fd631119-d684-4e29-8ed3-9ba46e687fed" providerId="ADAL" clId="{72DBC9DF-7DC6-4135-95FB-E4EE766DCF25}" dt="2022-07-13T21:48:42.143" v="3" actId="20577"/>
          <ac:spMkLst>
            <pc:docMk/>
            <pc:sldMk cId="2490725940" sldId="260"/>
            <ac:spMk id="6" creationId="{00000000-0000-0000-0000-000000000000}"/>
          </ac:spMkLst>
        </pc:spChg>
      </pc:sldChg>
      <pc:sldChg chg="addSp delSp modSp mod">
        <pc:chgData name="Mario Caicedo" userId="fd631119-d684-4e29-8ed3-9ba46e687fed" providerId="ADAL" clId="{72DBC9DF-7DC6-4135-95FB-E4EE766DCF25}" dt="2022-07-14T00:10:32.731" v="245" actId="20577"/>
        <pc:sldMkLst>
          <pc:docMk/>
          <pc:sldMk cId="694568213" sldId="261"/>
        </pc:sldMkLst>
        <pc:spChg chg="mod">
          <ac:chgData name="Mario Caicedo" userId="fd631119-d684-4e29-8ed3-9ba46e687fed" providerId="ADAL" clId="{72DBC9DF-7DC6-4135-95FB-E4EE766DCF25}" dt="2022-07-14T00:10:32.731" v="245" actId="20577"/>
          <ac:spMkLst>
            <pc:docMk/>
            <pc:sldMk cId="694568213" sldId="261"/>
            <ac:spMk id="5" creationId="{0F3654F1-02B2-4A1F-94CB-941E497FE932}"/>
          </ac:spMkLst>
        </pc:spChg>
        <pc:spChg chg="mod">
          <ac:chgData name="Mario Caicedo" userId="fd631119-d684-4e29-8ed3-9ba46e687fed" providerId="ADAL" clId="{72DBC9DF-7DC6-4135-95FB-E4EE766DCF25}" dt="2022-07-13T21:49:17.357" v="8" actId="255"/>
          <ac:spMkLst>
            <pc:docMk/>
            <pc:sldMk cId="694568213" sldId="261"/>
            <ac:spMk id="16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3T22:20:01.432" v="118" actId="20577"/>
          <ac:spMkLst>
            <pc:docMk/>
            <pc:sldMk cId="694568213" sldId="261"/>
            <ac:spMk id="29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3T22:54:33.537" v="132" actId="313"/>
          <ac:spMkLst>
            <pc:docMk/>
            <pc:sldMk cId="694568213" sldId="261"/>
            <ac:spMk id="31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3T22:17:16.909" v="109" actId="5793"/>
          <ac:spMkLst>
            <pc:docMk/>
            <pc:sldMk cId="694568213" sldId="261"/>
            <ac:spMk id="33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4T00:09:42.801" v="140" actId="108"/>
          <ac:spMkLst>
            <pc:docMk/>
            <pc:sldMk cId="694568213" sldId="261"/>
            <ac:spMk id="35" creationId="{00000000-0000-0000-0000-000000000000}"/>
          </ac:spMkLst>
        </pc:spChg>
        <pc:spChg chg="mod">
          <ac:chgData name="Mario Caicedo" userId="fd631119-d684-4e29-8ed3-9ba46e687fed" providerId="ADAL" clId="{72DBC9DF-7DC6-4135-95FB-E4EE766DCF25}" dt="2022-07-14T00:10:12.898" v="235" actId="20577"/>
          <ac:spMkLst>
            <pc:docMk/>
            <pc:sldMk cId="694568213" sldId="261"/>
            <ac:spMk id="37" creationId="{00000000-0000-0000-0000-000000000000}"/>
          </ac:spMkLst>
        </pc:spChg>
        <pc:graphicFrameChg chg="add del mod">
          <ac:chgData name="Mario Caicedo" userId="fd631119-d684-4e29-8ed3-9ba46e687fed" providerId="ADAL" clId="{72DBC9DF-7DC6-4135-95FB-E4EE766DCF25}" dt="2022-07-13T22:52:59.790" v="121"/>
          <ac:graphicFrameMkLst>
            <pc:docMk/>
            <pc:sldMk cId="694568213" sldId="261"/>
            <ac:graphicFrameMk id="2" creationId="{E73A8BDF-E1C8-3E49-6C15-D874772510D2}"/>
          </ac:graphicFrameMkLst>
        </pc:graphicFrameChg>
        <pc:graphicFrameChg chg="add del mod">
          <ac:chgData name="Mario Caicedo" userId="fd631119-d684-4e29-8ed3-9ba46e687fed" providerId="ADAL" clId="{72DBC9DF-7DC6-4135-95FB-E4EE766DCF25}" dt="2022-07-13T22:55:04.266" v="135"/>
          <ac:graphicFrameMkLst>
            <pc:docMk/>
            <pc:sldMk cId="694568213" sldId="261"/>
            <ac:graphicFrameMk id="3" creationId="{005E4858-E9AF-9191-1C84-3555576864A5}"/>
          </ac:graphicFrameMkLst>
        </pc:graphicFrameChg>
        <pc:graphicFrameChg chg="modGraphic">
          <ac:chgData name="Mario Caicedo" userId="fd631119-d684-4e29-8ed3-9ba46e687fed" providerId="ADAL" clId="{72DBC9DF-7DC6-4135-95FB-E4EE766DCF25}" dt="2022-07-13T21:49:44.278" v="49" actId="20577"/>
          <ac:graphicFrameMkLst>
            <pc:docMk/>
            <pc:sldMk cId="694568213" sldId="261"/>
            <ac:graphicFrameMk id="6" creationId="{5886589D-A8CA-4B25-A328-486CBD7CB88C}"/>
          </ac:graphicFrameMkLst>
        </pc:graphicFrameChg>
        <pc:graphicFrameChg chg="modGraphic">
          <ac:chgData name="Mario Caicedo" userId="fd631119-d684-4e29-8ed3-9ba46e687fed" providerId="ADAL" clId="{72DBC9DF-7DC6-4135-95FB-E4EE766DCF25}" dt="2022-07-13T22:16:58.358" v="106" actId="20577"/>
          <ac:graphicFrameMkLst>
            <pc:docMk/>
            <pc:sldMk cId="694568213" sldId="261"/>
            <ac:graphicFrameMk id="7" creationId="{B8DDAACF-5EE6-4B40-8346-945DE01D1F62}"/>
          </ac:graphicFrameMkLst>
        </pc:graphicFrameChg>
        <pc:graphicFrameChg chg="modGraphic">
          <ac:chgData name="Mario Caicedo" userId="fd631119-d684-4e29-8ed3-9ba46e687fed" providerId="ADAL" clId="{72DBC9DF-7DC6-4135-95FB-E4EE766DCF25}" dt="2022-07-13T22:16:55.594" v="104" actId="20577"/>
          <ac:graphicFrameMkLst>
            <pc:docMk/>
            <pc:sldMk cId="694568213" sldId="261"/>
            <ac:graphicFrameMk id="8" creationId="{8BDBB561-7702-442B-9E57-E2B72075746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6988"/>
            <a:ext cx="12192000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2"/>
          <p:cNvSpPr txBox="1">
            <a:spLocks noChangeArrowheads="1"/>
          </p:cNvSpPr>
          <p:nvPr userDrawn="1"/>
        </p:nvSpPr>
        <p:spPr bwMode="auto">
          <a:xfrm>
            <a:off x="4847167" y="2924175"/>
            <a:ext cx="685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C" sz="180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Formato</a:t>
            </a:r>
            <a:endParaRPr lang="en-US" sz="1800" b="1" i="1" u="sng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70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6988"/>
            <a:ext cx="12192000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1" descr="barra-azul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46567" y="-17462"/>
            <a:ext cx="9510184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655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85B43A-4135-4804-919F-C288AE5EAF5C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B90999-190F-4128-A193-0ED036AF2EF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595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79EEDD-9E59-498D-97E1-B6443BD6CD92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7A77A7-F90D-4E92-9E76-2813ED52FE0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70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8B0E23-2039-46DF-AB4E-1DD2D4034DF8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9BF2E99-F81C-4EB1-A4F8-4B69CCC54957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21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9D6A82-3AC0-4C78-B185-71F47004663C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F494F7-6C1D-477F-9FBF-F7E48F6800ED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08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37A9A1-86CA-4E25-B5E0-81765928EAE8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385AE2-166C-40C4-86F8-EB3B4897615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9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484022-A6D8-4128-A186-C8A0A9CDDBB1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DAF890-F1F4-488D-8525-B3B1498BC107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69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81C333-606E-4B84-9589-C23EB88942A9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BF60CB-5ACF-4A49-9D54-787828347241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6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0F58F2-1A74-439F-A307-8F8E8F1131F1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FFD832-05A5-47BB-907F-A8322B53EAEA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99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D3C6F6-1F3D-420C-BEAD-DC0852A862A5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11D117-4DE5-4F0A-B75C-57A824F43678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65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63CF48-AFBF-403F-8C42-FE5B9823C310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672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1E2054-54C3-4F8C-AF4D-BD32C46C82A8}" type="datetimeFigureOut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13/07/2022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24B3F0-C1F6-4F33-99AB-02CD786304C6}" type="slidenum">
              <a:rPr lang="es-ES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104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98D6EF-B7B1-4B62-AAEE-A6BF2A93FF26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9F6E6-B947-46D2-86C1-0AA8CC121040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85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40345-F3C4-42F4-A27D-311EED113F69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012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7F1E0-BF4B-4D09-9021-8B5F097A826E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89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056D8-A644-4CE6-8BC5-7681435358C6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106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63FF1-03BD-4BB4-981F-C17FFA97F604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06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02F5A-B9FB-42A8-8E8B-8B92AE4D6E19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779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D350C-2DD0-48A3-B227-0AAE02474304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655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39480-CAB8-4E64-936C-4C93F943C798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04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214AB-56F1-45F3-80EC-CED91996AD9D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5054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77767-B539-4176-9774-52A1FC8DB30A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94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49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5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568D43-90CF-43A5-9C89-91C46DB95A93}" type="slidenum">
              <a:rPr 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0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9 Conector recto"/>
          <p:cNvCxnSpPr/>
          <p:nvPr/>
        </p:nvCxnSpPr>
        <p:spPr>
          <a:xfrm>
            <a:off x="7410198" y="2803978"/>
            <a:ext cx="0" cy="1103521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 Título"/>
          <p:cNvSpPr txBox="1">
            <a:spLocks/>
          </p:cNvSpPr>
          <p:nvPr/>
        </p:nvSpPr>
        <p:spPr bwMode="auto">
          <a:xfrm>
            <a:off x="3530382" y="3124862"/>
            <a:ext cx="8290144" cy="60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altLang="es-EC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Informe de avance</a:t>
            </a:r>
            <a:endParaRPr lang="es-CO" altLang="es-EC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s-CO" altLang="es-EC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Proyecto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US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</a:rPr>
              <a:t>SERVICIO DE CLOUD COMPUTING Y ADMINISTRACIÓN PARA AMBIENTES PRODUCTIVOS</a:t>
            </a:r>
          </a:p>
          <a:p>
            <a:pPr eaLnBrk="1" hangingPunct="1">
              <a:spcBef>
                <a:spcPct val="50000"/>
              </a:spcBef>
            </a:pPr>
            <a:r>
              <a:rPr lang="es-CO" altLang="es-EC" sz="3200" dirty="0">
                <a:latin typeface="Tahoma" panose="020B0604030504040204" pitchFamily="34" charset="0"/>
              </a:rPr>
              <a:t>Banco Internacional</a:t>
            </a:r>
          </a:p>
        </p:txBody>
      </p:sp>
    </p:spTree>
    <p:extLst>
      <p:ext uri="{BB962C8B-B14F-4D97-AF65-F5344CB8AC3E}">
        <p14:creationId xmlns:p14="http://schemas.microsoft.com/office/powerpoint/2010/main" val="249072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67 CuadroTexto"/>
          <p:cNvSpPr txBox="1">
            <a:spLocks noChangeArrowheads="1"/>
          </p:cNvSpPr>
          <p:nvPr/>
        </p:nvSpPr>
        <p:spPr bwMode="auto">
          <a:xfrm>
            <a:off x="80684" y="1089830"/>
            <a:ext cx="2590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srgbClr val="F79646">
                    <a:lumMod val="75000"/>
                  </a:srgbClr>
                </a:solidFill>
                <a:latin typeface="Calibri"/>
              </a:rPr>
              <a:t>OBJETIVO</a:t>
            </a:r>
          </a:p>
        </p:txBody>
      </p:sp>
      <p:sp>
        <p:nvSpPr>
          <p:cNvPr id="29" name="58 Rectángulo"/>
          <p:cNvSpPr>
            <a:spLocks noChangeArrowheads="1"/>
          </p:cNvSpPr>
          <p:nvPr/>
        </p:nvSpPr>
        <p:spPr bwMode="auto">
          <a:xfrm>
            <a:off x="85965" y="1427614"/>
            <a:ext cx="11986699" cy="8422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t"/>
            <a:r>
              <a:rPr lang="es-ES" sz="1400" dirty="0"/>
              <a:t>Consolidar los servicios habilitados en dos suscripciones de Microsoft Azure sin afectar la disponibilidad del servicio.</a:t>
            </a:r>
            <a:endParaRPr lang="es-ES" sz="1400" dirty="0">
              <a:solidFill>
                <a:prstClr val="black"/>
              </a:solidFill>
            </a:endParaRPr>
          </a:p>
        </p:txBody>
      </p:sp>
      <p:sp>
        <p:nvSpPr>
          <p:cNvPr id="31" name="56 CuadroTexto"/>
          <p:cNvSpPr txBox="1">
            <a:spLocks noChangeArrowheads="1"/>
          </p:cNvSpPr>
          <p:nvPr/>
        </p:nvSpPr>
        <p:spPr bwMode="auto">
          <a:xfrm>
            <a:off x="80684" y="2542112"/>
            <a:ext cx="5940000" cy="16081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71450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ALCANCE Y DISEÑO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Definición de la estructura del equipo de trabajo.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Levantamiento de información.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Revisión de cronograma.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Kick-off Proyecto</a:t>
            </a:r>
          </a:p>
          <a:p>
            <a:pPr marL="171450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Revisión de prerrequisitos: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Accesos y Privilegios.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Prerrequisitos listos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s-ES" sz="1200" dirty="0">
              <a:solidFill>
                <a:prstClr val="black"/>
              </a:solidFill>
              <a:latin typeface="Calibri"/>
            </a:endParaRP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s-ES" sz="1200" dirty="0">
              <a:solidFill>
                <a:prstClr val="black"/>
              </a:solidFill>
              <a:latin typeface="Calibri"/>
            </a:endParaRPr>
          </a:p>
          <a:p>
            <a:pPr marL="0" indent="0" algn="just">
              <a:buClr>
                <a:srgbClr val="F79646">
                  <a:lumMod val="75000"/>
                </a:srgbClr>
              </a:buClr>
            </a:pPr>
            <a:endParaRPr lang="es-ES" sz="1400" dirty="0">
              <a:solidFill>
                <a:prstClr val="black"/>
              </a:solidFill>
              <a:latin typeface="Calibri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61 CuadroTexto"/>
          <p:cNvSpPr txBox="1">
            <a:spLocks noChangeArrowheads="1"/>
          </p:cNvSpPr>
          <p:nvPr/>
        </p:nvSpPr>
        <p:spPr bwMode="auto">
          <a:xfrm>
            <a:off x="0" y="2243001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prstClr val="white">
                    <a:lumMod val="50000"/>
                  </a:prstClr>
                </a:solidFill>
                <a:latin typeface="Calibri"/>
              </a:rPr>
              <a:t>PRINCIPALES LOGROS</a:t>
            </a:r>
          </a:p>
        </p:txBody>
      </p:sp>
      <p:sp>
        <p:nvSpPr>
          <p:cNvPr id="33" name="56 CuadroTexto"/>
          <p:cNvSpPr txBox="1">
            <a:spLocks noChangeArrowheads="1"/>
          </p:cNvSpPr>
          <p:nvPr/>
        </p:nvSpPr>
        <p:spPr bwMode="auto">
          <a:xfrm>
            <a:off x="6096000" y="2542112"/>
            <a:ext cx="5940000" cy="16081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lvl="0" indent="0">
              <a:buClr>
                <a:srgbClr val="F79646">
                  <a:lumMod val="75000"/>
                </a:srgbClr>
              </a:buClr>
            </a:pPr>
            <a:endParaRPr lang="es-ES" sz="1400" dirty="0">
              <a:solidFill>
                <a:prstClr val="black"/>
              </a:solidFill>
              <a:latin typeface="Calibri"/>
              <a:cs typeface="+mn-cs"/>
            </a:endParaRPr>
          </a:p>
          <a:p>
            <a:pPr marL="0" indent="0" algn="just">
              <a:buClr>
                <a:srgbClr val="F79646">
                  <a:lumMod val="75000"/>
                </a:srgbClr>
              </a:buClr>
            </a:pPr>
            <a:endParaRPr lang="es-ES" sz="1400" dirty="0">
              <a:solidFill>
                <a:prstClr val="black"/>
              </a:solidFill>
              <a:latin typeface="Calibri"/>
            </a:endParaRPr>
          </a:p>
          <a:p>
            <a:pPr marL="0" indent="0" algn="just">
              <a:buClr>
                <a:srgbClr val="F79646">
                  <a:lumMod val="75000"/>
                </a:srgbClr>
              </a:buClr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34" name="61 CuadroTexto"/>
          <p:cNvSpPr txBox="1">
            <a:spLocks noChangeArrowheads="1"/>
          </p:cNvSpPr>
          <p:nvPr/>
        </p:nvSpPr>
        <p:spPr bwMode="auto">
          <a:xfrm>
            <a:off x="6079314" y="2243001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prstClr val="white">
                    <a:lumMod val="50000"/>
                  </a:prstClr>
                </a:solidFill>
                <a:latin typeface="Calibri"/>
              </a:rPr>
              <a:t>MOTIVO DE LA DESVIACIÓN</a:t>
            </a:r>
          </a:p>
        </p:txBody>
      </p:sp>
      <p:sp>
        <p:nvSpPr>
          <p:cNvPr id="35" name="56 CuadroTexto"/>
          <p:cNvSpPr txBox="1">
            <a:spLocks noChangeArrowheads="1"/>
          </p:cNvSpPr>
          <p:nvPr/>
        </p:nvSpPr>
        <p:spPr bwMode="auto">
          <a:xfrm>
            <a:off x="80684" y="4531823"/>
            <a:ext cx="5940000" cy="22218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171450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FASE I – Preparación de Ambiente en Azure.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Creación de nueva suscripción.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Creación de usuario propietario común en Suscripción MIS y Nueva Suscripción.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Creación de Servicio de Almacenamiento.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Revisión de Cargas de trabajo e inventario de recursos migrables.</a:t>
            </a: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200" dirty="0">
                <a:solidFill>
                  <a:prstClr val="black"/>
                </a:solidFill>
                <a:latin typeface="Calibri"/>
              </a:rPr>
              <a:t>Coordinación de Ventana de horarios para la migración.</a:t>
            </a:r>
          </a:p>
          <a:p>
            <a:pPr marL="0" indent="0" algn="just">
              <a:buClr>
                <a:srgbClr val="F79646">
                  <a:lumMod val="75000"/>
                </a:srgbClr>
              </a:buClr>
            </a:pPr>
            <a:endParaRPr lang="es-EC" sz="1400" dirty="0">
              <a:solidFill>
                <a:prstClr val="black"/>
              </a:solidFill>
              <a:latin typeface="Calibri"/>
            </a:endParaRPr>
          </a:p>
          <a:p>
            <a:pPr marL="171450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  <a:p>
            <a:pPr marL="628650" lvl="1" indent="-171450"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61 CuadroTexto"/>
          <p:cNvSpPr txBox="1">
            <a:spLocks noChangeArrowheads="1"/>
          </p:cNvSpPr>
          <p:nvPr/>
        </p:nvSpPr>
        <p:spPr bwMode="auto">
          <a:xfrm>
            <a:off x="21226" y="4166375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>
                <a:solidFill>
                  <a:prstClr val="white">
                    <a:lumMod val="50000"/>
                  </a:prstClr>
                </a:solidFill>
                <a:latin typeface="Calibri"/>
              </a:rPr>
              <a:t>METAS PARA EL PRÓXIMO PERÍODO</a:t>
            </a:r>
          </a:p>
        </p:txBody>
      </p:sp>
      <p:sp>
        <p:nvSpPr>
          <p:cNvPr id="38" name="61 CuadroTexto"/>
          <p:cNvSpPr txBox="1">
            <a:spLocks noChangeArrowheads="1"/>
          </p:cNvSpPr>
          <p:nvPr/>
        </p:nvSpPr>
        <p:spPr bwMode="auto">
          <a:xfrm>
            <a:off x="6079313" y="4193268"/>
            <a:ext cx="43656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MX" sz="16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ASUNTOS CRÍTICOS</a:t>
            </a:r>
          </a:p>
        </p:txBody>
      </p:sp>
      <p:sp>
        <p:nvSpPr>
          <p:cNvPr id="16" name="5 CuadroTexto"/>
          <p:cNvSpPr txBox="1"/>
          <p:nvPr/>
        </p:nvSpPr>
        <p:spPr>
          <a:xfrm>
            <a:off x="22053" y="134961"/>
            <a:ext cx="3358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US" sz="1000" b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SERVICIO DE CLOUD COMPUTING Y ADMINISTRACIÓN PARA AMBIENTES PRODUCTIVOS</a:t>
            </a:r>
            <a:endParaRPr lang="es-ES" sz="1000" b="1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8" name="6 Rectángulo"/>
          <p:cNvSpPr/>
          <p:nvPr/>
        </p:nvSpPr>
        <p:spPr>
          <a:xfrm flipV="1">
            <a:off x="101087" y="536297"/>
            <a:ext cx="2028357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MX" sz="1600">
              <a:solidFill>
                <a:prstClr val="white"/>
              </a:solidFill>
            </a:endParaRPr>
          </a:p>
        </p:txBody>
      </p:sp>
      <p:sp>
        <p:nvSpPr>
          <p:cNvPr id="20" name="6 Rectángulo"/>
          <p:cNvSpPr/>
          <p:nvPr/>
        </p:nvSpPr>
        <p:spPr>
          <a:xfrm flipV="1">
            <a:off x="157375" y="536297"/>
            <a:ext cx="2969717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MX" sz="1600">
              <a:solidFill>
                <a:prstClr val="white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34C7A07-A6AA-4044-8131-A92F086BB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38410"/>
              </p:ext>
            </p:extLst>
          </p:nvPr>
        </p:nvGraphicFramePr>
        <p:xfrm>
          <a:off x="3009900" y="104345"/>
          <a:ext cx="492884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8843">
                  <a:extLst>
                    <a:ext uri="{9D8B030D-6E8A-4147-A177-3AD203B41FA5}">
                      <a16:colId xmlns:a16="http://schemas.microsoft.com/office/drawing/2014/main" val="4021148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sz="1600" b="0">
                          <a:solidFill>
                            <a:schemeClr val="tx1"/>
                          </a:solidFill>
                          <a:latin typeface="+mj-lt"/>
                        </a:rPr>
                        <a:t>Información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359182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0F3654F1-02B2-4A1F-94CB-941E497FE932}"/>
              </a:ext>
            </a:extLst>
          </p:cNvPr>
          <p:cNvSpPr txBox="1"/>
          <p:nvPr/>
        </p:nvSpPr>
        <p:spPr>
          <a:xfrm>
            <a:off x="21225" y="658181"/>
            <a:ext cx="2731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600" dirty="0">
                <a:latin typeface="+mj-lt"/>
              </a:rPr>
              <a:t>Fecha de status: 13/07/2022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886589D-A8CA-4B25-A328-486CBD7CB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655703"/>
              </p:ext>
            </p:extLst>
          </p:nvPr>
        </p:nvGraphicFramePr>
        <p:xfrm>
          <a:off x="3009900" y="479235"/>
          <a:ext cx="492393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211">
                  <a:extLst>
                    <a:ext uri="{9D8B030D-6E8A-4147-A177-3AD203B41FA5}">
                      <a16:colId xmlns:a16="http://schemas.microsoft.com/office/drawing/2014/main" val="2991509590"/>
                    </a:ext>
                  </a:extLst>
                </a:gridCol>
                <a:gridCol w="1730723">
                  <a:extLst>
                    <a:ext uri="{9D8B030D-6E8A-4147-A177-3AD203B41FA5}">
                      <a16:colId xmlns:a16="http://schemas.microsoft.com/office/drawing/2014/main" val="4000217647"/>
                    </a:ext>
                  </a:extLst>
                </a:gridCol>
              </a:tblGrid>
              <a:tr h="274246">
                <a:tc>
                  <a:txBody>
                    <a:bodyPr/>
                    <a:lstStyle/>
                    <a:p>
                      <a:r>
                        <a:rPr lang="es-EC" sz="1200" dirty="0">
                          <a:solidFill>
                            <a:schemeClr val="tx1"/>
                          </a:solidFill>
                        </a:rPr>
                        <a:t>Sponsor: Vicepresidencia</a:t>
                      </a:r>
                      <a:r>
                        <a:rPr lang="es-EC" sz="1200" baseline="0" dirty="0">
                          <a:solidFill>
                            <a:schemeClr val="tx1"/>
                          </a:solidFill>
                        </a:rPr>
                        <a:t> de O&amp;T</a:t>
                      </a:r>
                      <a:endParaRPr lang="es-EC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C" sz="12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189901"/>
                  </a:ext>
                </a:extLst>
              </a:tr>
              <a:tr h="274246">
                <a:tc>
                  <a:txBody>
                    <a:bodyPr/>
                    <a:lstStyle/>
                    <a:p>
                      <a:r>
                        <a:rPr lang="es-EC" sz="1200" b="1"/>
                        <a:t>Gerente de Proyecto Banco Internacional: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Cristian León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20548"/>
                  </a:ext>
                </a:extLst>
              </a:tr>
              <a:tr h="274246">
                <a:tc>
                  <a:txBody>
                    <a:bodyPr/>
                    <a:lstStyle/>
                    <a:p>
                      <a:r>
                        <a:rPr lang="es-EC" sz="1200" b="1" dirty="0"/>
                        <a:t>Gerente de Proyecto</a:t>
                      </a:r>
                      <a:r>
                        <a:rPr lang="es-EC" sz="1200" b="1" baseline="0" dirty="0"/>
                        <a:t> </a:t>
                      </a:r>
                      <a:r>
                        <a:rPr lang="es-EC" sz="12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IT</a:t>
                      </a:r>
                      <a:r>
                        <a:rPr lang="es-EC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Mario Caicedo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72043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ACB4B82B-B361-4979-8A5C-8AAF364FA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76631"/>
              </p:ext>
            </p:extLst>
          </p:nvPr>
        </p:nvGraphicFramePr>
        <p:xfrm>
          <a:off x="7943653" y="104345"/>
          <a:ext cx="4088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8863">
                  <a:extLst>
                    <a:ext uri="{9D8B030D-6E8A-4147-A177-3AD203B41FA5}">
                      <a16:colId xmlns:a16="http://schemas.microsoft.com/office/drawing/2014/main" val="4021148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Indicadores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359182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8DDAACF-5EE6-4B40-8346-945DE01D1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383713"/>
              </p:ext>
            </p:extLst>
          </p:nvPr>
        </p:nvGraphicFramePr>
        <p:xfrm>
          <a:off x="7943652" y="481355"/>
          <a:ext cx="3143530" cy="82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856">
                  <a:extLst>
                    <a:ext uri="{9D8B030D-6E8A-4147-A177-3AD203B41FA5}">
                      <a16:colId xmlns:a16="http://schemas.microsoft.com/office/drawing/2014/main" val="857498432"/>
                    </a:ext>
                  </a:extLst>
                </a:gridCol>
                <a:gridCol w="1484674">
                  <a:extLst>
                    <a:ext uri="{9D8B030D-6E8A-4147-A177-3AD203B41FA5}">
                      <a16:colId xmlns:a16="http://schemas.microsoft.com/office/drawing/2014/main" val="461508513"/>
                    </a:ext>
                  </a:extLst>
                </a:gridCol>
              </a:tblGrid>
              <a:tr h="412825">
                <a:tc>
                  <a:txBody>
                    <a:bodyPr/>
                    <a:lstStyle/>
                    <a:p>
                      <a:r>
                        <a:rPr lang="es-EC" sz="1100" b="1" dirty="0">
                          <a:solidFill>
                            <a:schemeClr val="tx1"/>
                          </a:solidFill>
                        </a:rPr>
                        <a:t>Inicio:  05/07/2022</a:t>
                      </a:r>
                      <a:endParaRPr lang="es-EC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100" dirty="0">
                          <a:solidFill>
                            <a:schemeClr val="tx1"/>
                          </a:solidFill>
                        </a:rPr>
                        <a:t>Fin: 05/08/2022</a:t>
                      </a:r>
                      <a:endParaRPr lang="es-EC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726671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r>
                        <a:rPr lang="es-EC" sz="1100" b="1" dirty="0"/>
                        <a:t>Avance planificado: </a:t>
                      </a:r>
                      <a:r>
                        <a:rPr lang="es-EC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4 </a:t>
                      </a:r>
                      <a:r>
                        <a:rPr lang="es-EC" sz="1100" dirty="0"/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1100" b="1" dirty="0">
                          <a:solidFill>
                            <a:schemeClr val="tx1"/>
                          </a:solidFill>
                        </a:rPr>
                        <a:t>Avance real: </a:t>
                      </a:r>
                      <a:r>
                        <a:rPr lang="es-EC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4 %</a:t>
                      </a:r>
                      <a:endParaRPr lang="es-EC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611847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BDBB561-7702-442B-9E57-E2B720757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779174"/>
              </p:ext>
            </p:extLst>
          </p:nvPr>
        </p:nvGraphicFramePr>
        <p:xfrm>
          <a:off x="11097002" y="485903"/>
          <a:ext cx="935514" cy="82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514">
                  <a:extLst>
                    <a:ext uri="{9D8B030D-6E8A-4147-A177-3AD203B41FA5}">
                      <a16:colId xmlns:a16="http://schemas.microsoft.com/office/drawing/2014/main" val="3755845409"/>
                    </a:ext>
                  </a:extLst>
                </a:gridCol>
              </a:tblGrid>
              <a:tr h="400537">
                <a:tc>
                  <a:txBody>
                    <a:bodyPr/>
                    <a:lstStyle/>
                    <a:p>
                      <a:r>
                        <a:rPr lang="es-EC" sz="1200" dirty="0">
                          <a:solidFill>
                            <a:schemeClr val="tx1"/>
                          </a:solidFill>
                        </a:rPr>
                        <a:t>Desviación: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772071"/>
                  </a:ext>
                </a:extLst>
              </a:tr>
              <a:tr h="425113">
                <a:tc>
                  <a:txBody>
                    <a:bodyPr/>
                    <a:lstStyle/>
                    <a:p>
                      <a:pPr algn="ctr"/>
                      <a:r>
                        <a:rPr lang="es-EC" sz="1600" b="0" dirty="0"/>
                        <a:t> 0 %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139435"/>
                  </a:ext>
                </a:extLst>
              </a:tr>
            </a:tbl>
          </a:graphicData>
        </a:graphic>
      </p:graphicFrame>
      <p:sp>
        <p:nvSpPr>
          <p:cNvPr id="37" name="56 CuadroTexto"/>
          <p:cNvSpPr txBox="1">
            <a:spLocks noChangeArrowheads="1"/>
          </p:cNvSpPr>
          <p:nvPr/>
        </p:nvSpPr>
        <p:spPr bwMode="auto">
          <a:xfrm>
            <a:off x="6096000" y="4531822"/>
            <a:ext cx="5940000" cy="22218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r>
              <a:rPr lang="es-ES" sz="1400" dirty="0">
                <a:solidFill>
                  <a:prstClr val="black"/>
                </a:solidFill>
                <a:latin typeface="Calibri"/>
              </a:rPr>
              <a:t>Disponibilidad de las ventanas para la implementación.</a:t>
            </a:r>
          </a:p>
          <a:p>
            <a:pPr algn="just">
              <a:buClr>
                <a:srgbClr val="F79646">
                  <a:lumMod val="75000"/>
                </a:srgbClr>
              </a:buClr>
              <a:buFont typeface="Wingdings" panose="05000000000000000000" pitchFamily="2" charset="2"/>
              <a:buChar char="ü"/>
            </a:pPr>
            <a:endParaRPr lang="es-ES" sz="14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456821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redeterminado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66BA8A9E7CFB4419A13D127CE84E276" ma:contentTypeVersion="2" ma:contentTypeDescription="Crear nuevo documento." ma:contentTypeScope="" ma:versionID="ab46c42fb85608522ad7d5b7b3a74224">
  <xsd:schema xmlns:xsd="http://www.w3.org/2001/XMLSchema" xmlns:xs="http://www.w3.org/2001/XMLSchema" xmlns:p="http://schemas.microsoft.com/office/2006/metadata/properties" xmlns:ns2="a437c269-584e-4daa-9099-a9208e1279d3" targetNamespace="http://schemas.microsoft.com/office/2006/metadata/properties" ma:root="true" ma:fieldsID="f9ae83facff86c26eeb7622a71dd31e4" ns2:_="">
    <xsd:import namespace="a437c269-584e-4daa-9099-a9208e1279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7c269-584e-4daa-9099-a9208e1279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CFC19E-8A7F-48AE-B4DE-C075E1EBCB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D57EFF-2558-4041-AE27-EEE96CB55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37c269-584e-4daa-9099-a9208e1279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E7DD9D-2134-4F83-8EBE-F5109D246C57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a0c193dd-1ee4-423a-a94e-78cfa7300766"/>
    <ds:schemaRef ds:uri="http://purl.org/dc/terms/"/>
    <ds:schemaRef ds:uri="http://schemas.microsoft.com/office/infopath/2007/PartnerControls"/>
    <ds:schemaRef ds:uri="93bd2bb4-931b-454c-99e4-f8d433aed81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199</Words>
  <Application>Microsoft Office PowerPoint</Application>
  <PresentationFormat>Panorámica</PresentationFormat>
  <Paragraphs>46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Tahoma</vt:lpstr>
      <vt:lpstr>Wingdings</vt:lpstr>
      <vt:lpstr>1_Tema de Office</vt:lpstr>
      <vt:lpstr>Diseño predeterminado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Pinilla</dc:creator>
  <cp:lastModifiedBy>Mario Caicedo</cp:lastModifiedBy>
  <cp:revision>9</cp:revision>
  <dcterms:created xsi:type="dcterms:W3CDTF">2016-02-02T15:24:42Z</dcterms:created>
  <dcterms:modified xsi:type="dcterms:W3CDTF">2022-07-14T00:10:35Z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0x010100F66BA8A9E7CFB4419A13D127CE84E276</vt:lpwstr>
  </property>
</Properties>
</file>